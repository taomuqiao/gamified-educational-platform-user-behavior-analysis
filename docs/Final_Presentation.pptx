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787"/>
  </p:normalViewPr>
  <p:slideViewPr>
    <p:cSldViewPr snapToGrid="0">
      <p:cViewPr varScale="1">
        <p:scale>
          <a:sx n="112" d="100"/>
          <a:sy n="112" d="100"/>
        </p:scale>
        <p:origin x="5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12/16/25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zh-CN" alt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12/16/25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12/16/25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12/16/25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12/16/25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12/16/25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12/16/25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12/16/25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12/16/25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12/16/25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B1FA9DC5-60E4-6D67-FE73-922EC50F5997}"/>
              </a:ext>
            </a:extLst>
          </p:cNvPr>
          <p:cNvSpPr>
            <a:spLocks noGrp="1"/>
          </p:cNvSpPr>
          <p:nvPr>
            <p:ph type="subTitle" idx="1"/>
          </p:nvPr>
        </p:nvSpPr>
        <p:spPr>
          <a:xfrm>
            <a:off x="2680162" y="1828799"/>
            <a:ext cx="6715298" cy="1087737"/>
          </a:xfrm>
        </p:spPr>
        <p:txBody>
          <a:bodyPr/>
          <a:lstStyle/>
          <a:p>
            <a:r>
              <a:rPr kumimoji="1" lang="en-US" altLang="zh-CN" dirty="0"/>
              <a:t>A feature-level sentiment analysis about gamification effect using social media data</a:t>
            </a:r>
            <a:endParaRPr kumimoji="1" lang="zh-CN" altLang="en-US" dirty="0"/>
          </a:p>
        </p:txBody>
      </p:sp>
      <p:sp>
        <p:nvSpPr>
          <p:cNvPr id="4" name="文本框 3">
            <a:extLst>
              <a:ext uri="{FF2B5EF4-FFF2-40B4-BE49-F238E27FC236}">
                <a16:creationId xmlns:a16="http://schemas.microsoft.com/office/drawing/2014/main" id="{FF1B5196-C456-BED0-1680-3E5FD6FF78AD}"/>
              </a:ext>
            </a:extLst>
          </p:cNvPr>
          <p:cNvSpPr txBox="1"/>
          <p:nvPr/>
        </p:nvSpPr>
        <p:spPr>
          <a:xfrm>
            <a:off x="5444489" y="3566160"/>
            <a:ext cx="1303020" cy="369332"/>
          </a:xfrm>
          <a:prstGeom prst="rect">
            <a:avLst/>
          </a:prstGeom>
          <a:noFill/>
        </p:spPr>
        <p:txBody>
          <a:bodyPr wrap="square" rtlCol="0">
            <a:spAutoFit/>
          </a:bodyPr>
          <a:lstStyle/>
          <a:p>
            <a:r>
              <a:rPr kumimoji="1" lang="en-US" altLang="zh-CN" dirty="0"/>
              <a:t>Muqiao Tao</a:t>
            </a:r>
            <a:endParaRPr kumimoji="1" lang="zh-CN" altLang="en-US" dirty="0"/>
          </a:p>
        </p:txBody>
      </p:sp>
    </p:spTree>
    <p:extLst>
      <p:ext uri="{BB962C8B-B14F-4D97-AF65-F5344CB8AC3E}">
        <p14:creationId xmlns:p14="http://schemas.microsoft.com/office/powerpoint/2010/main" val="2096539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来自design.duolingo.com的“duolingo image”">
            <a:extLst>
              <a:ext uri="{FF2B5EF4-FFF2-40B4-BE49-F238E27FC236}">
                <a16:creationId xmlns:a16="http://schemas.microsoft.com/office/drawing/2014/main" id="{ABDAF2CA-813F-563B-BB7F-1965B00EC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260" y="480060"/>
            <a:ext cx="4099560" cy="307467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395EA17C-3555-578E-6D40-702FCFDD17F5}"/>
              </a:ext>
            </a:extLst>
          </p:cNvPr>
          <p:cNvSpPr txBox="1"/>
          <p:nvPr/>
        </p:nvSpPr>
        <p:spPr>
          <a:xfrm>
            <a:off x="6663690" y="502920"/>
            <a:ext cx="4011930" cy="646331"/>
          </a:xfrm>
          <a:prstGeom prst="rect">
            <a:avLst/>
          </a:prstGeom>
          <a:noFill/>
        </p:spPr>
        <p:txBody>
          <a:bodyPr wrap="square" rtlCol="0">
            <a:spAutoFit/>
          </a:bodyPr>
          <a:lstStyle/>
          <a:p>
            <a:pPr marL="285750" indent="-285750">
              <a:buFontTx/>
              <a:buChar char="-"/>
            </a:pPr>
            <a:r>
              <a:rPr kumimoji="1" lang="en-US" altLang="zh-CN" dirty="0"/>
              <a:t>Why </a:t>
            </a:r>
            <a:r>
              <a:rPr kumimoji="1" lang="en-US" altLang="zh-CN" dirty="0" err="1"/>
              <a:t>duolingo</a:t>
            </a:r>
            <a:endParaRPr kumimoji="1" lang="en-US" altLang="zh-CN" dirty="0"/>
          </a:p>
          <a:p>
            <a:pPr marL="285750" indent="-285750">
              <a:buFontTx/>
              <a:buChar char="-"/>
            </a:pPr>
            <a:r>
              <a:rPr kumimoji="1" lang="en-US" altLang="zh-CN" dirty="0"/>
              <a:t>General vs specific features</a:t>
            </a:r>
          </a:p>
        </p:txBody>
      </p:sp>
    </p:spTree>
    <p:extLst>
      <p:ext uri="{BB962C8B-B14F-4D97-AF65-F5344CB8AC3E}">
        <p14:creationId xmlns:p14="http://schemas.microsoft.com/office/powerpoint/2010/main" val="8048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B4554-1264-E771-AFF5-734CFF76CC9E}"/>
              </a:ext>
            </a:extLst>
          </p:cNvPr>
          <p:cNvSpPr>
            <a:spLocks noGrp="1"/>
          </p:cNvSpPr>
          <p:nvPr>
            <p:ph type="title"/>
          </p:nvPr>
        </p:nvSpPr>
        <p:spPr>
          <a:xfrm>
            <a:off x="881744" y="631372"/>
            <a:ext cx="3135086" cy="5606142"/>
          </a:xfrm>
        </p:spPr>
        <p:txBody>
          <a:bodyPr>
            <a:normAutofit/>
          </a:bodyPr>
          <a:lstStyle/>
          <a:p>
            <a:r>
              <a:rPr kumimoji="1" lang="en-US" altLang="zh-CN" dirty="0"/>
              <a:t>Overall Plan</a:t>
            </a:r>
            <a:endParaRPr kumimoji="1" lang="zh-CN" altLang="en-US" dirty="0"/>
          </a:p>
        </p:txBody>
      </p:sp>
      <p:sp>
        <p:nvSpPr>
          <p:cNvPr id="11" name="Rectangle 10">
            <a:extLst>
              <a:ext uri="{FF2B5EF4-FFF2-40B4-BE49-F238E27FC236}">
                <a16:creationId xmlns:a16="http://schemas.microsoft.com/office/drawing/2014/main" id="{597649B1-EA54-4416-AAFC-FF408060C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Content Placeholder 7">
            <a:extLst>
              <a:ext uri="{FF2B5EF4-FFF2-40B4-BE49-F238E27FC236}">
                <a16:creationId xmlns:a16="http://schemas.microsoft.com/office/drawing/2014/main" id="{8B69FE1C-7EEC-027D-0047-CF3811117DCF}"/>
              </a:ext>
            </a:extLst>
          </p:cNvPr>
          <p:cNvSpPr>
            <a:spLocks noGrp="1"/>
          </p:cNvSpPr>
          <p:nvPr>
            <p:ph idx="1"/>
          </p:nvPr>
        </p:nvSpPr>
        <p:spPr>
          <a:xfrm>
            <a:off x="4741595" y="285751"/>
            <a:ext cx="6797262" cy="4090306"/>
          </a:xfrm>
        </p:spPr>
        <p:txBody>
          <a:bodyPr>
            <a:normAutofit/>
          </a:bodyPr>
          <a:lstStyle/>
          <a:p>
            <a:r>
              <a:rPr lang="en-US" dirty="0"/>
              <a:t>Features:</a:t>
            </a:r>
            <a:br>
              <a:rPr lang="en-US" dirty="0"/>
            </a:br>
            <a:r>
              <a:rPr lang="en" altLang="zh-CN" sz="1600" b="1" dirty="0"/>
              <a:t>Streaks</a:t>
            </a:r>
            <a:r>
              <a:rPr lang="en" altLang="zh-CN" sz="1600" dirty="0"/>
              <a:t> motivate daily engagement by rewarding consistency.</a:t>
            </a:r>
          </a:p>
          <a:p>
            <a:r>
              <a:rPr lang="en" altLang="zh-CN" sz="1600" b="1" dirty="0"/>
              <a:t>Hearts</a:t>
            </a:r>
            <a:r>
              <a:rPr lang="en" altLang="zh-CN" sz="1600" dirty="0"/>
              <a:t> were the old system that limited mistakes—similar to ‘lives’ in a game.</a:t>
            </a:r>
          </a:p>
          <a:p>
            <a:r>
              <a:rPr lang="en" altLang="zh-CN" sz="1600" b="1" dirty="0"/>
              <a:t>Energy</a:t>
            </a:r>
            <a:r>
              <a:rPr lang="en" altLang="zh-CN" sz="1600" dirty="0"/>
              <a:t> is the newer replacement for hearts, and it also regulates how much users can practice at once.</a:t>
            </a:r>
          </a:p>
          <a:p>
            <a:r>
              <a:rPr lang="en" altLang="zh-CN" sz="1600" b="1" dirty="0"/>
              <a:t>XP</a:t>
            </a:r>
            <a:r>
              <a:rPr lang="en" altLang="zh-CN" sz="1600" dirty="0"/>
              <a:t>, or experience points, give users a measurable sense of progress.</a:t>
            </a:r>
          </a:p>
          <a:p>
            <a:r>
              <a:rPr lang="en" altLang="zh-CN" sz="1600" b="1" dirty="0"/>
              <a:t>Leaderboards</a:t>
            </a:r>
            <a:r>
              <a:rPr lang="en" altLang="zh-CN" sz="1600" dirty="0"/>
              <a:t> create competition by ranking learners each week.</a:t>
            </a:r>
          </a:p>
          <a:p>
            <a:r>
              <a:rPr lang="en" altLang="zh-CN" sz="1600" b="1" dirty="0"/>
              <a:t>Quests</a:t>
            </a:r>
            <a:r>
              <a:rPr lang="en" altLang="zh-CN" sz="1600" dirty="0"/>
              <a:t> provide daily or weekly challenges that guide people’s learning.</a:t>
            </a:r>
          </a:p>
          <a:p>
            <a:r>
              <a:rPr lang="en" altLang="zh-CN" sz="1600" b="1" dirty="0"/>
              <a:t>Rewards</a:t>
            </a:r>
            <a:r>
              <a:rPr lang="en" altLang="zh-CN" sz="1600" dirty="0"/>
              <a:t> include gems, chests, and bonuses that reinforce progress.</a:t>
            </a:r>
          </a:p>
          <a:p>
            <a:r>
              <a:rPr lang="en" altLang="zh-CN" sz="1600" b="1" dirty="0"/>
              <a:t>Chess mode</a:t>
            </a:r>
            <a:r>
              <a:rPr lang="en" altLang="zh-CN" sz="1600" dirty="0"/>
              <a:t>, one of Duolingo’s newest features, adds a playful, puzzle-like experience that isn’t strictly tied to language learning.</a:t>
            </a:r>
            <a:endParaRPr lang="en-US" sz="1600" dirty="0"/>
          </a:p>
        </p:txBody>
      </p:sp>
      <p:pic>
        <p:nvPicPr>
          <p:cNvPr id="4" name="内容占位符 3">
            <a:extLst>
              <a:ext uri="{FF2B5EF4-FFF2-40B4-BE49-F238E27FC236}">
                <a16:creationId xmlns:a16="http://schemas.microsoft.com/office/drawing/2014/main" id="{B96A9C91-8EC5-C03B-1790-149971E37D73}"/>
              </a:ext>
            </a:extLst>
          </p:cNvPr>
          <p:cNvPicPr>
            <a:picLocks noChangeAspect="1"/>
          </p:cNvPicPr>
          <p:nvPr/>
        </p:nvPicPr>
        <p:blipFill>
          <a:blip r:embed="rId2"/>
          <a:stretch>
            <a:fillRect/>
          </a:stretch>
        </p:blipFill>
        <p:spPr>
          <a:xfrm>
            <a:off x="4741595" y="4598377"/>
            <a:ext cx="6307607" cy="1687285"/>
          </a:xfrm>
          <a:prstGeom prst="rect">
            <a:avLst/>
          </a:prstGeom>
        </p:spPr>
      </p:pic>
    </p:spTree>
    <p:extLst>
      <p:ext uri="{BB962C8B-B14F-4D97-AF65-F5344CB8AC3E}">
        <p14:creationId xmlns:p14="http://schemas.microsoft.com/office/powerpoint/2010/main" val="1339962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8135CD-6D03-9A70-56A3-B41A60580CB5}"/>
              </a:ext>
            </a:extLst>
          </p:cNvPr>
          <p:cNvSpPr>
            <a:spLocks noGrp="1"/>
          </p:cNvSpPr>
          <p:nvPr>
            <p:ph type="title"/>
          </p:nvPr>
        </p:nvSpPr>
        <p:spPr>
          <a:xfrm>
            <a:off x="1295400" y="331470"/>
            <a:ext cx="9601200" cy="948690"/>
          </a:xfrm>
        </p:spPr>
        <p:txBody>
          <a:bodyPr/>
          <a:lstStyle/>
          <a:p>
            <a:r>
              <a:rPr kumimoji="1" lang="en-US" altLang="zh-CN"/>
              <a:t>Data Collection</a:t>
            </a:r>
            <a:endParaRPr kumimoji="1" lang="zh-CN" altLang="en-US" dirty="0"/>
          </a:p>
        </p:txBody>
      </p:sp>
      <p:pic>
        <p:nvPicPr>
          <p:cNvPr id="6" name="图片 5">
            <a:extLst>
              <a:ext uri="{FF2B5EF4-FFF2-40B4-BE49-F238E27FC236}">
                <a16:creationId xmlns:a16="http://schemas.microsoft.com/office/drawing/2014/main" id="{58768265-C236-6F9C-D93B-4CD325DB47E9}"/>
              </a:ext>
            </a:extLst>
          </p:cNvPr>
          <p:cNvPicPr>
            <a:picLocks noChangeAspect="1"/>
          </p:cNvPicPr>
          <p:nvPr/>
        </p:nvPicPr>
        <p:blipFill>
          <a:blip r:embed="rId2"/>
          <a:stretch>
            <a:fillRect/>
          </a:stretch>
        </p:blipFill>
        <p:spPr>
          <a:xfrm>
            <a:off x="1135380" y="1204762"/>
            <a:ext cx="5812923" cy="4448475"/>
          </a:xfrm>
          <a:prstGeom prst="rect">
            <a:avLst/>
          </a:prstGeom>
        </p:spPr>
      </p:pic>
      <p:sp>
        <p:nvSpPr>
          <p:cNvPr id="7" name="文本框 6">
            <a:extLst>
              <a:ext uri="{FF2B5EF4-FFF2-40B4-BE49-F238E27FC236}">
                <a16:creationId xmlns:a16="http://schemas.microsoft.com/office/drawing/2014/main" id="{7BFC5B92-1F22-74DE-0B49-373F60308729}"/>
              </a:ext>
            </a:extLst>
          </p:cNvPr>
          <p:cNvSpPr txBox="1"/>
          <p:nvPr/>
        </p:nvSpPr>
        <p:spPr>
          <a:xfrm>
            <a:off x="7715250" y="3767287"/>
            <a:ext cx="3051810" cy="1200329"/>
          </a:xfrm>
          <a:prstGeom prst="rect">
            <a:avLst/>
          </a:prstGeom>
          <a:noFill/>
        </p:spPr>
        <p:txBody>
          <a:bodyPr wrap="square" rtlCol="0">
            <a:spAutoFit/>
          </a:bodyPr>
          <a:lstStyle/>
          <a:p>
            <a:r>
              <a:rPr kumimoji="1" lang="en-US" altLang="zh-CN" dirty="0"/>
              <a:t>Google play: 0.58</a:t>
            </a:r>
          </a:p>
          <a:p>
            <a:r>
              <a:rPr kumimoji="1" lang="en-US" altLang="zh-CN" dirty="0"/>
              <a:t>App store:     0.12</a:t>
            </a:r>
          </a:p>
          <a:p>
            <a:r>
              <a:rPr kumimoji="1" lang="en-US" altLang="zh-CN" dirty="0"/>
              <a:t>Reddit:          0.26</a:t>
            </a:r>
          </a:p>
          <a:p>
            <a:r>
              <a:rPr kumimoji="1" lang="en-US" altLang="zh-CN" dirty="0"/>
              <a:t>Twitter:          0.04</a:t>
            </a:r>
            <a:endParaRPr kumimoji="1" lang="zh-CN" altLang="en-US" dirty="0"/>
          </a:p>
        </p:txBody>
      </p:sp>
    </p:spTree>
    <p:extLst>
      <p:ext uri="{BB962C8B-B14F-4D97-AF65-F5344CB8AC3E}">
        <p14:creationId xmlns:p14="http://schemas.microsoft.com/office/powerpoint/2010/main" val="1524726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7500303-A207-4812-BEB9-51E132FEB7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2" name="Freeform 6">
              <a:extLst>
                <a:ext uri="{FF2B5EF4-FFF2-40B4-BE49-F238E27FC236}">
                  <a16:creationId xmlns:a16="http://schemas.microsoft.com/office/drawing/2014/main" id="{10118C91-C025-4776-BE95-E9926378E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zh-CN" altLang="en-US"/>
            </a:p>
          </p:txBody>
        </p:sp>
        <p:sp>
          <p:nvSpPr>
            <p:cNvPr id="13" name="Freeform 6">
              <a:extLst>
                <a:ext uri="{FF2B5EF4-FFF2-40B4-BE49-F238E27FC236}">
                  <a16:creationId xmlns:a16="http://schemas.microsoft.com/office/drawing/2014/main" id="{339174D0-30E8-4BBF-BF81-5DDAC33C0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zh-CN" altLang="en-US"/>
            </a:p>
          </p:txBody>
        </p:sp>
      </p:grpSp>
      <p:sp useBgFill="1">
        <p:nvSpPr>
          <p:cNvPr id="15" name="Rectangle 14">
            <a:extLst>
              <a:ext uri="{FF2B5EF4-FFF2-40B4-BE49-F238E27FC236}">
                <a16:creationId xmlns:a16="http://schemas.microsoft.com/office/drawing/2014/main" id="{78511CAE-6AAD-4026-90B0-6917258C1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764AC34-0A92-D966-DACE-88A4FA4A5953}"/>
              </a:ext>
            </a:extLst>
          </p:cNvPr>
          <p:cNvSpPr>
            <a:spLocks noGrp="1"/>
          </p:cNvSpPr>
          <p:nvPr>
            <p:ph type="title"/>
          </p:nvPr>
        </p:nvSpPr>
        <p:spPr>
          <a:xfrm>
            <a:off x="8154186" y="634028"/>
            <a:ext cx="3355942" cy="3732835"/>
          </a:xfrm>
        </p:spPr>
        <p:txBody>
          <a:bodyPr vert="horz" lIns="91440" tIns="45720" rIns="91440" bIns="45720" rtlCol="0" anchor="b">
            <a:normAutofit/>
          </a:bodyPr>
          <a:lstStyle/>
          <a:p>
            <a:pPr algn="ctr"/>
            <a:r>
              <a:rPr kumimoji="1" lang="en-US" altLang="zh-CN" sz="4200" cap="all"/>
              <a:t>Data Collection</a:t>
            </a:r>
          </a:p>
        </p:txBody>
      </p:sp>
      <p:sp>
        <p:nvSpPr>
          <p:cNvPr id="17" name="Freeform 6">
            <a:extLst>
              <a:ext uri="{FF2B5EF4-FFF2-40B4-BE49-F238E27FC236}">
                <a16:creationId xmlns:a16="http://schemas.microsoft.com/office/drawing/2014/main" id="{7388763A-4025-4433-A72C-457FC3763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649163" y="634028"/>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zh-CN" altLang="en-US"/>
          </a:p>
        </p:txBody>
      </p:sp>
      <p:pic>
        <p:nvPicPr>
          <p:cNvPr id="4" name="图片 3">
            <a:extLst>
              <a:ext uri="{FF2B5EF4-FFF2-40B4-BE49-F238E27FC236}">
                <a16:creationId xmlns:a16="http://schemas.microsoft.com/office/drawing/2014/main" id="{AF56235B-DB72-EE1F-5E22-E802361D4B3D}"/>
              </a:ext>
            </a:extLst>
          </p:cNvPr>
          <p:cNvPicPr>
            <a:picLocks noChangeAspect="1"/>
          </p:cNvPicPr>
          <p:nvPr/>
        </p:nvPicPr>
        <p:blipFill>
          <a:blip r:embed="rId2"/>
          <a:stretch>
            <a:fillRect/>
          </a:stretch>
        </p:blipFill>
        <p:spPr>
          <a:xfrm>
            <a:off x="4349399" y="1139571"/>
            <a:ext cx="2943505" cy="4678791"/>
          </a:xfrm>
          <a:prstGeom prst="rect">
            <a:avLst/>
          </a:prstGeom>
        </p:spPr>
      </p:pic>
      <p:pic>
        <p:nvPicPr>
          <p:cNvPr id="6" name="图片 5">
            <a:extLst>
              <a:ext uri="{FF2B5EF4-FFF2-40B4-BE49-F238E27FC236}">
                <a16:creationId xmlns:a16="http://schemas.microsoft.com/office/drawing/2014/main" id="{4CBC0F93-0791-3876-CECC-53E0CE951FD5}"/>
              </a:ext>
            </a:extLst>
          </p:cNvPr>
          <p:cNvPicPr>
            <a:picLocks noChangeAspect="1"/>
          </p:cNvPicPr>
          <p:nvPr/>
        </p:nvPicPr>
        <p:blipFill>
          <a:blip r:embed="rId3"/>
          <a:stretch>
            <a:fillRect/>
          </a:stretch>
        </p:blipFill>
        <p:spPr>
          <a:xfrm>
            <a:off x="1320925" y="4382952"/>
            <a:ext cx="2749177" cy="1435411"/>
          </a:xfrm>
          <a:prstGeom prst="rect">
            <a:avLst/>
          </a:prstGeom>
        </p:spPr>
      </p:pic>
      <p:sp>
        <p:nvSpPr>
          <p:cNvPr id="19" name="Freeform 6">
            <a:extLst>
              <a:ext uri="{FF2B5EF4-FFF2-40B4-BE49-F238E27FC236}">
                <a16:creationId xmlns:a16="http://schemas.microsoft.com/office/drawing/2014/main" id="{8A2DFE20-1EAE-45A9-AD16-D4DBD0ABB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94670" y="2016617"/>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zh-CN" altLang="en-US"/>
          </a:p>
        </p:txBody>
      </p:sp>
      <p:pic>
        <p:nvPicPr>
          <p:cNvPr id="5" name="图片 4">
            <a:extLst>
              <a:ext uri="{FF2B5EF4-FFF2-40B4-BE49-F238E27FC236}">
                <a16:creationId xmlns:a16="http://schemas.microsoft.com/office/drawing/2014/main" id="{74D8EB02-45CA-D369-20D8-338F64C2DADA}"/>
              </a:ext>
            </a:extLst>
          </p:cNvPr>
          <p:cNvPicPr>
            <a:picLocks noChangeAspect="1"/>
          </p:cNvPicPr>
          <p:nvPr/>
        </p:nvPicPr>
        <p:blipFill>
          <a:blip r:embed="rId4"/>
          <a:stretch>
            <a:fillRect/>
          </a:stretch>
        </p:blipFill>
        <p:spPr>
          <a:xfrm>
            <a:off x="1300137" y="1165860"/>
            <a:ext cx="2749177" cy="2844857"/>
          </a:xfrm>
          <a:prstGeom prst="rect">
            <a:avLst/>
          </a:prstGeom>
        </p:spPr>
      </p:pic>
    </p:spTree>
    <p:extLst>
      <p:ext uri="{BB962C8B-B14F-4D97-AF65-F5344CB8AC3E}">
        <p14:creationId xmlns:p14="http://schemas.microsoft.com/office/powerpoint/2010/main" val="121593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FDC2F-F0C5-FCE5-5714-338AAEDC5704}"/>
              </a:ext>
            </a:extLst>
          </p:cNvPr>
          <p:cNvSpPr>
            <a:spLocks noGrp="1"/>
          </p:cNvSpPr>
          <p:nvPr>
            <p:ph type="title"/>
          </p:nvPr>
        </p:nvSpPr>
        <p:spPr>
          <a:xfrm>
            <a:off x="1371600" y="685800"/>
            <a:ext cx="9601200" cy="788670"/>
          </a:xfrm>
        </p:spPr>
        <p:txBody>
          <a:bodyPr/>
          <a:lstStyle/>
          <a:p>
            <a:r>
              <a:rPr kumimoji="1" lang="en-US" altLang="zh-CN" dirty="0"/>
              <a:t>Data Processing</a:t>
            </a:r>
            <a:endParaRPr kumimoji="1" lang="zh-CN" altLang="en-US" dirty="0"/>
          </a:p>
        </p:txBody>
      </p:sp>
      <p:sp>
        <p:nvSpPr>
          <p:cNvPr id="4" name="文本框 3">
            <a:extLst>
              <a:ext uri="{FF2B5EF4-FFF2-40B4-BE49-F238E27FC236}">
                <a16:creationId xmlns:a16="http://schemas.microsoft.com/office/drawing/2014/main" id="{FEDAF020-322F-1886-AB25-43BFC490BC0A}"/>
              </a:ext>
            </a:extLst>
          </p:cNvPr>
          <p:cNvSpPr txBox="1"/>
          <p:nvPr/>
        </p:nvSpPr>
        <p:spPr>
          <a:xfrm>
            <a:off x="1497330" y="1783080"/>
            <a:ext cx="9349740" cy="3693319"/>
          </a:xfrm>
          <a:prstGeom prst="rect">
            <a:avLst/>
          </a:prstGeom>
          <a:noFill/>
        </p:spPr>
        <p:txBody>
          <a:bodyPr wrap="square" rtlCol="0">
            <a:spAutoFit/>
          </a:bodyPr>
          <a:lstStyle/>
          <a:p>
            <a:pPr marL="285750" indent="-285750">
              <a:buFontTx/>
              <a:buChar char="-"/>
            </a:pPr>
            <a:r>
              <a:rPr kumimoji="1" lang="en-US" altLang="zh-CN" dirty="0"/>
              <a:t>One-hot encoding for feature variables:</a:t>
            </a:r>
          </a:p>
          <a:p>
            <a:pPr marL="285750" indent="-285750">
              <a:buFontTx/>
              <a:buChar char="-"/>
            </a:pPr>
            <a:r>
              <a:rPr kumimoji="1" lang="en-US" altLang="zh-CN" dirty="0" err="1"/>
              <a:t>E.g</a:t>
            </a:r>
            <a:r>
              <a:rPr kumimoji="1" lang="en-US" altLang="zh-CN" dirty="0"/>
              <a:t> You can't learn any language if you haven't purchased premium this app ask again and again in the form of energy. this is very bad thing of this application. otherwise this is best</a:t>
            </a:r>
          </a:p>
          <a:p>
            <a:pPr marL="285750" indent="-285750">
              <a:buFontTx/>
              <a:buChar char="-"/>
            </a:pPr>
            <a:endParaRPr kumimoji="1" lang="en-US" altLang="zh-CN" dirty="0"/>
          </a:p>
          <a:p>
            <a:pPr marL="285750" indent="-285750">
              <a:buFontTx/>
              <a:buChar char="-"/>
            </a:pPr>
            <a:endParaRPr kumimoji="1" lang="en-US" altLang="zh-CN" dirty="0"/>
          </a:p>
          <a:p>
            <a:pPr marL="285750" indent="-285750">
              <a:buFontTx/>
              <a:buChar char="-"/>
            </a:pPr>
            <a:r>
              <a:rPr kumimoji="1" lang="en-US" altLang="zh-CN" dirty="0"/>
              <a:t>Double check </a:t>
            </a:r>
          </a:p>
          <a:p>
            <a:pPr marL="285750" indent="-285750">
              <a:buFontTx/>
              <a:buChar char="-"/>
            </a:pPr>
            <a:r>
              <a:rPr kumimoji="1" lang="en-US" altLang="zh-CN" dirty="0" err="1"/>
              <a:t>E.g</a:t>
            </a:r>
            <a:r>
              <a:rPr kumimoji="1" lang="en-US" altLang="zh-CN" dirty="0"/>
              <a:t> quest in request</a:t>
            </a:r>
          </a:p>
          <a:p>
            <a:pPr marL="285750" indent="-285750">
              <a:buFontTx/>
              <a:buChar char="-"/>
            </a:pPr>
            <a:endParaRPr kumimoji="1" lang="en-US" altLang="zh-CN" dirty="0"/>
          </a:p>
          <a:p>
            <a:pPr marL="285750" indent="-285750">
              <a:buFontTx/>
              <a:buChar char="-"/>
            </a:pPr>
            <a:r>
              <a:rPr kumimoji="1" lang="en-US" altLang="zh-CN" dirty="0"/>
              <a:t>Control Variables:</a:t>
            </a:r>
          </a:p>
          <a:p>
            <a:pPr marL="285750" indent="-285750">
              <a:buFontTx/>
              <a:buChar char="-"/>
            </a:pPr>
            <a:r>
              <a:rPr kumimoji="1" lang="en-US" altLang="zh-CN" dirty="0" err="1"/>
              <a:t>Feat_energy_vs_heart</a:t>
            </a:r>
            <a:r>
              <a:rPr kumimoji="1" lang="en-US" altLang="zh-CN" dirty="0"/>
              <a:t> : “Bring back the hearts” “Energy is worse than heart”</a:t>
            </a:r>
          </a:p>
          <a:p>
            <a:pPr marL="285750" indent="-285750">
              <a:buFontTx/>
              <a:buChar char="-"/>
            </a:pPr>
            <a:r>
              <a:rPr kumimoji="1" lang="en-US" altLang="zh-CN" dirty="0"/>
              <a:t>Platform control</a:t>
            </a:r>
          </a:p>
          <a:p>
            <a:pPr marL="285750" indent="-285750">
              <a:buFontTx/>
              <a:buChar char="-"/>
            </a:pPr>
            <a:r>
              <a:rPr kumimoji="1" lang="en-US" altLang="zh-CN" dirty="0"/>
              <a:t>Time control monthly</a:t>
            </a:r>
          </a:p>
          <a:p>
            <a:pPr marL="285750" indent="-285750">
              <a:buFontTx/>
              <a:buChar char="-"/>
            </a:pPr>
            <a:r>
              <a:rPr kumimoji="1" lang="en-US" altLang="zh-CN" dirty="0"/>
              <a:t>Comment length control </a:t>
            </a:r>
          </a:p>
        </p:txBody>
      </p:sp>
      <p:pic>
        <p:nvPicPr>
          <p:cNvPr id="6" name="图片 5">
            <a:extLst>
              <a:ext uri="{FF2B5EF4-FFF2-40B4-BE49-F238E27FC236}">
                <a16:creationId xmlns:a16="http://schemas.microsoft.com/office/drawing/2014/main" id="{9B2DED03-1F55-28BD-B9F6-483EA5C2466D}"/>
              </a:ext>
            </a:extLst>
          </p:cNvPr>
          <p:cNvPicPr>
            <a:picLocks noChangeAspect="1"/>
          </p:cNvPicPr>
          <p:nvPr/>
        </p:nvPicPr>
        <p:blipFill>
          <a:blip r:embed="rId2"/>
          <a:stretch>
            <a:fillRect/>
          </a:stretch>
        </p:blipFill>
        <p:spPr>
          <a:xfrm>
            <a:off x="1878330" y="2680970"/>
            <a:ext cx="6629400" cy="444500"/>
          </a:xfrm>
          <a:prstGeom prst="rect">
            <a:avLst/>
          </a:prstGeom>
        </p:spPr>
      </p:pic>
      <p:pic>
        <p:nvPicPr>
          <p:cNvPr id="7" name="图片 6">
            <a:extLst>
              <a:ext uri="{FF2B5EF4-FFF2-40B4-BE49-F238E27FC236}">
                <a16:creationId xmlns:a16="http://schemas.microsoft.com/office/drawing/2014/main" id="{B2E047BE-D808-74AB-038B-7B76CCDBBAEE}"/>
              </a:ext>
            </a:extLst>
          </p:cNvPr>
          <p:cNvPicPr>
            <a:picLocks noChangeAspect="1"/>
          </p:cNvPicPr>
          <p:nvPr/>
        </p:nvPicPr>
        <p:blipFill>
          <a:blip r:embed="rId3"/>
          <a:stretch>
            <a:fillRect/>
          </a:stretch>
        </p:blipFill>
        <p:spPr>
          <a:xfrm>
            <a:off x="4495800" y="4587240"/>
            <a:ext cx="3352800" cy="381000"/>
          </a:xfrm>
          <a:prstGeom prst="rect">
            <a:avLst/>
          </a:prstGeom>
        </p:spPr>
      </p:pic>
    </p:spTree>
    <p:extLst>
      <p:ext uri="{BB962C8B-B14F-4D97-AF65-F5344CB8AC3E}">
        <p14:creationId xmlns:p14="http://schemas.microsoft.com/office/powerpoint/2010/main" val="2274003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763B0-BB56-03F7-1B65-4D5F76456023}"/>
              </a:ext>
            </a:extLst>
          </p:cNvPr>
          <p:cNvSpPr>
            <a:spLocks noGrp="1"/>
          </p:cNvSpPr>
          <p:nvPr>
            <p:ph type="title"/>
          </p:nvPr>
        </p:nvSpPr>
        <p:spPr/>
        <p:txBody>
          <a:bodyPr/>
          <a:lstStyle/>
          <a:p>
            <a:r>
              <a:rPr kumimoji="1" lang="en-US" altLang="zh-CN" dirty="0"/>
              <a:t>Labeling</a:t>
            </a:r>
            <a:endParaRPr kumimoji="1" lang="zh-CN" altLang="en-US" dirty="0"/>
          </a:p>
        </p:txBody>
      </p:sp>
      <p:sp>
        <p:nvSpPr>
          <p:cNvPr id="3" name="内容占位符 2">
            <a:extLst>
              <a:ext uri="{FF2B5EF4-FFF2-40B4-BE49-F238E27FC236}">
                <a16:creationId xmlns:a16="http://schemas.microsoft.com/office/drawing/2014/main" id="{2D228CF8-E77D-C6E4-710E-D43A82A71AF2}"/>
              </a:ext>
            </a:extLst>
          </p:cNvPr>
          <p:cNvSpPr>
            <a:spLocks noGrp="1"/>
          </p:cNvSpPr>
          <p:nvPr>
            <p:ph idx="1"/>
          </p:nvPr>
        </p:nvSpPr>
        <p:spPr/>
        <p:txBody>
          <a:bodyPr/>
          <a:lstStyle/>
          <a:p>
            <a:pPr marL="0" indent="0">
              <a:buNone/>
            </a:pPr>
            <a:r>
              <a:rPr kumimoji="1" lang="en-US" altLang="zh-CN" dirty="0"/>
              <a:t>- Manual labeling + human logic like AI</a:t>
            </a:r>
            <a:endParaRPr kumimoji="1" lang="zh-CN" altLang="en-US" dirty="0"/>
          </a:p>
          <a:p>
            <a:pPr marL="0" indent="0">
              <a:buNone/>
            </a:pPr>
            <a:r>
              <a:rPr kumimoji="1" lang="en-US" altLang="zh-CN" dirty="0"/>
              <a:t>- logic for labeling: according to overall sentiment</a:t>
            </a:r>
          </a:p>
        </p:txBody>
      </p:sp>
      <p:pic>
        <p:nvPicPr>
          <p:cNvPr id="4" name="图片 3">
            <a:extLst>
              <a:ext uri="{FF2B5EF4-FFF2-40B4-BE49-F238E27FC236}">
                <a16:creationId xmlns:a16="http://schemas.microsoft.com/office/drawing/2014/main" id="{0760390D-3069-5320-CF1A-0382408DFB4C}"/>
              </a:ext>
            </a:extLst>
          </p:cNvPr>
          <p:cNvPicPr>
            <a:picLocks noChangeAspect="1"/>
          </p:cNvPicPr>
          <p:nvPr/>
        </p:nvPicPr>
        <p:blipFill>
          <a:blip r:embed="rId2"/>
          <a:stretch>
            <a:fillRect/>
          </a:stretch>
        </p:blipFill>
        <p:spPr>
          <a:xfrm>
            <a:off x="6935371" y="2171700"/>
            <a:ext cx="4974101" cy="2179822"/>
          </a:xfrm>
          <a:prstGeom prst="rect">
            <a:avLst/>
          </a:prstGeom>
        </p:spPr>
      </p:pic>
    </p:spTree>
    <p:extLst>
      <p:ext uri="{BB962C8B-B14F-4D97-AF65-F5344CB8AC3E}">
        <p14:creationId xmlns:p14="http://schemas.microsoft.com/office/powerpoint/2010/main" val="2950048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CCA1B-66A3-F3C2-FF93-9EDEC0742AAB}"/>
              </a:ext>
            </a:extLst>
          </p:cNvPr>
          <p:cNvSpPr>
            <a:spLocks noGrp="1"/>
          </p:cNvSpPr>
          <p:nvPr>
            <p:ph type="title"/>
          </p:nvPr>
        </p:nvSpPr>
        <p:spPr/>
        <p:txBody>
          <a:bodyPr/>
          <a:lstStyle/>
          <a:p>
            <a:r>
              <a:rPr kumimoji="1" lang="en-US" altLang="zh-CN" dirty="0"/>
              <a:t>Analysis</a:t>
            </a:r>
            <a:endParaRPr kumimoji="1" lang="zh-CN" altLang="en-US" dirty="0"/>
          </a:p>
        </p:txBody>
      </p:sp>
      <p:pic>
        <p:nvPicPr>
          <p:cNvPr id="4" name="图片 3">
            <a:extLst>
              <a:ext uri="{FF2B5EF4-FFF2-40B4-BE49-F238E27FC236}">
                <a16:creationId xmlns:a16="http://schemas.microsoft.com/office/drawing/2014/main" id="{65FF672E-FD32-4A0D-6810-216B688617A2}"/>
              </a:ext>
            </a:extLst>
          </p:cNvPr>
          <p:cNvPicPr>
            <a:picLocks noChangeAspect="1"/>
          </p:cNvPicPr>
          <p:nvPr/>
        </p:nvPicPr>
        <p:blipFill>
          <a:blip r:embed="rId2"/>
          <a:stretch>
            <a:fillRect/>
          </a:stretch>
        </p:blipFill>
        <p:spPr>
          <a:xfrm>
            <a:off x="1219201" y="1631852"/>
            <a:ext cx="4876800" cy="3273876"/>
          </a:xfrm>
          <a:prstGeom prst="rect">
            <a:avLst/>
          </a:prstGeom>
        </p:spPr>
      </p:pic>
      <p:pic>
        <p:nvPicPr>
          <p:cNvPr id="5" name="图片 4">
            <a:extLst>
              <a:ext uri="{FF2B5EF4-FFF2-40B4-BE49-F238E27FC236}">
                <a16:creationId xmlns:a16="http://schemas.microsoft.com/office/drawing/2014/main" id="{4D57113F-7E80-48EB-4869-DD8C1006D349}"/>
              </a:ext>
            </a:extLst>
          </p:cNvPr>
          <p:cNvPicPr>
            <a:picLocks noChangeAspect="1"/>
          </p:cNvPicPr>
          <p:nvPr/>
        </p:nvPicPr>
        <p:blipFill>
          <a:blip r:embed="rId3"/>
          <a:stretch>
            <a:fillRect/>
          </a:stretch>
        </p:blipFill>
        <p:spPr>
          <a:xfrm>
            <a:off x="6248400" y="1428749"/>
            <a:ext cx="5486497" cy="4578155"/>
          </a:xfrm>
          <a:prstGeom prst="rect">
            <a:avLst/>
          </a:prstGeom>
        </p:spPr>
      </p:pic>
    </p:spTree>
    <p:extLst>
      <p:ext uri="{BB962C8B-B14F-4D97-AF65-F5344CB8AC3E}">
        <p14:creationId xmlns:p14="http://schemas.microsoft.com/office/powerpoint/2010/main" val="339097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92176-056D-4CB2-AC5C-E354C825B531}"/>
              </a:ext>
            </a:extLst>
          </p:cNvPr>
          <p:cNvSpPr>
            <a:spLocks noGrp="1"/>
          </p:cNvSpPr>
          <p:nvPr>
            <p:ph type="title"/>
          </p:nvPr>
        </p:nvSpPr>
        <p:spPr/>
        <p:txBody>
          <a:bodyPr/>
          <a:lstStyle/>
          <a:p>
            <a:r>
              <a:rPr kumimoji="1" lang="en-US" altLang="zh-CN" dirty="0"/>
              <a:t>Analysis</a:t>
            </a:r>
            <a:endParaRPr kumimoji="1" lang="zh-CN" altLang="en-US" dirty="0"/>
          </a:p>
        </p:txBody>
      </p:sp>
      <p:pic>
        <p:nvPicPr>
          <p:cNvPr id="4" name="内容占位符 3">
            <a:extLst>
              <a:ext uri="{FF2B5EF4-FFF2-40B4-BE49-F238E27FC236}">
                <a16:creationId xmlns:a16="http://schemas.microsoft.com/office/drawing/2014/main" id="{D647FCEA-BE72-FB3F-1F3F-8CAE00E3953A}"/>
              </a:ext>
            </a:extLst>
          </p:cNvPr>
          <p:cNvPicPr>
            <a:picLocks noGrp="1" noChangeAspect="1"/>
          </p:cNvPicPr>
          <p:nvPr>
            <p:ph idx="1"/>
          </p:nvPr>
        </p:nvPicPr>
        <p:blipFill>
          <a:blip r:embed="rId2"/>
          <a:stretch>
            <a:fillRect/>
          </a:stretch>
        </p:blipFill>
        <p:spPr>
          <a:xfrm>
            <a:off x="1371600" y="1589650"/>
            <a:ext cx="6172369" cy="3996396"/>
          </a:xfrm>
          <a:prstGeom prst="rect">
            <a:avLst/>
          </a:prstGeom>
        </p:spPr>
      </p:pic>
      <p:pic>
        <p:nvPicPr>
          <p:cNvPr id="6" name="图片 5">
            <a:extLst>
              <a:ext uri="{FF2B5EF4-FFF2-40B4-BE49-F238E27FC236}">
                <a16:creationId xmlns:a16="http://schemas.microsoft.com/office/drawing/2014/main" id="{CD0F5350-2EFB-6C78-8A58-1A1EF66F8001}"/>
              </a:ext>
            </a:extLst>
          </p:cNvPr>
          <p:cNvPicPr>
            <a:picLocks noChangeAspect="1"/>
          </p:cNvPicPr>
          <p:nvPr/>
        </p:nvPicPr>
        <p:blipFill>
          <a:blip r:embed="rId3"/>
          <a:stretch>
            <a:fillRect/>
          </a:stretch>
        </p:blipFill>
        <p:spPr>
          <a:xfrm>
            <a:off x="6931562" y="1022350"/>
            <a:ext cx="4152900" cy="406400"/>
          </a:xfrm>
          <a:prstGeom prst="rect">
            <a:avLst/>
          </a:prstGeom>
        </p:spPr>
      </p:pic>
      <p:pic>
        <p:nvPicPr>
          <p:cNvPr id="7" name="图片 6">
            <a:extLst>
              <a:ext uri="{FF2B5EF4-FFF2-40B4-BE49-F238E27FC236}">
                <a16:creationId xmlns:a16="http://schemas.microsoft.com/office/drawing/2014/main" id="{220B8F79-817E-18F7-BF7B-6580DCC5B8E1}"/>
              </a:ext>
            </a:extLst>
          </p:cNvPr>
          <p:cNvPicPr>
            <a:picLocks noChangeAspect="1"/>
          </p:cNvPicPr>
          <p:nvPr/>
        </p:nvPicPr>
        <p:blipFill>
          <a:blip r:embed="rId4"/>
          <a:stretch>
            <a:fillRect/>
          </a:stretch>
        </p:blipFill>
        <p:spPr>
          <a:xfrm>
            <a:off x="4480462" y="1555750"/>
            <a:ext cx="6604000" cy="419100"/>
          </a:xfrm>
          <a:prstGeom prst="rect">
            <a:avLst/>
          </a:prstGeom>
        </p:spPr>
      </p:pic>
      <p:pic>
        <p:nvPicPr>
          <p:cNvPr id="8" name="图片 7">
            <a:extLst>
              <a:ext uri="{FF2B5EF4-FFF2-40B4-BE49-F238E27FC236}">
                <a16:creationId xmlns:a16="http://schemas.microsoft.com/office/drawing/2014/main" id="{EAFEF5D4-D259-1968-8AB5-1C879BB57007}"/>
              </a:ext>
            </a:extLst>
          </p:cNvPr>
          <p:cNvPicPr>
            <a:picLocks noChangeAspect="1"/>
          </p:cNvPicPr>
          <p:nvPr/>
        </p:nvPicPr>
        <p:blipFill>
          <a:blip r:embed="rId5"/>
          <a:stretch>
            <a:fillRect/>
          </a:stretch>
        </p:blipFill>
        <p:spPr>
          <a:xfrm>
            <a:off x="4539761" y="3429000"/>
            <a:ext cx="6477000" cy="457200"/>
          </a:xfrm>
          <a:prstGeom prst="rect">
            <a:avLst/>
          </a:prstGeom>
        </p:spPr>
      </p:pic>
      <p:pic>
        <p:nvPicPr>
          <p:cNvPr id="9" name="图片 8">
            <a:extLst>
              <a:ext uri="{FF2B5EF4-FFF2-40B4-BE49-F238E27FC236}">
                <a16:creationId xmlns:a16="http://schemas.microsoft.com/office/drawing/2014/main" id="{576D0F0D-3C45-CD22-0D74-1E6C91FE14CC}"/>
              </a:ext>
            </a:extLst>
          </p:cNvPr>
          <p:cNvPicPr>
            <a:picLocks noChangeAspect="1"/>
          </p:cNvPicPr>
          <p:nvPr/>
        </p:nvPicPr>
        <p:blipFill>
          <a:blip r:embed="rId6"/>
          <a:stretch>
            <a:fillRect/>
          </a:stretch>
        </p:blipFill>
        <p:spPr>
          <a:xfrm>
            <a:off x="5083712" y="527050"/>
            <a:ext cx="3924300" cy="266700"/>
          </a:xfrm>
          <a:prstGeom prst="rect">
            <a:avLst/>
          </a:prstGeom>
        </p:spPr>
      </p:pic>
    </p:spTree>
    <p:extLst>
      <p:ext uri="{BB962C8B-B14F-4D97-AF65-F5344CB8AC3E}">
        <p14:creationId xmlns:p14="http://schemas.microsoft.com/office/powerpoint/2010/main" val="2584784892"/>
      </p:ext>
    </p:extLst>
  </p:cSld>
  <p:clrMapOvr>
    <a:masterClrMapping/>
  </p:clrMapOvr>
</p:sld>
</file>

<file path=ppt/theme/theme1.xml><?xml version="1.0" encoding="utf-8"?>
<a:theme xmlns:a="http://schemas.openxmlformats.org/drawingml/2006/main" name="剪切">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剪切</Template>
  <TotalTime>190</TotalTime>
  <Words>263</Words>
  <Application>Microsoft Macintosh PowerPoint</Application>
  <PresentationFormat>宽屏</PresentationFormat>
  <Paragraphs>37</Paragraphs>
  <Slides>9</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9</vt:i4>
      </vt:variant>
    </vt:vector>
  </HeadingPairs>
  <TitlesOfParts>
    <vt:vector size="11" baseType="lpstr">
      <vt:lpstr>Franklin Gothic Book</vt:lpstr>
      <vt:lpstr>剪切</vt:lpstr>
      <vt:lpstr>PowerPoint 演示文稿</vt:lpstr>
      <vt:lpstr>PowerPoint 演示文稿</vt:lpstr>
      <vt:lpstr>Overall Plan</vt:lpstr>
      <vt:lpstr>Data Collection</vt:lpstr>
      <vt:lpstr>Data Collection</vt:lpstr>
      <vt:lpstr>Data Processing</vt:lpstr>
      <vt:lpstr>Labeling</vt:lpstr>
      <vt:lpstr>Analysis</vt:lpstr>
      <vt:lpstr>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Muqiao Tao</dc:creator>
  <cp:lastModifiedBy>Muqiao Tao</cp:lastModifiedBy>
  <cp:revision>3</cp:revision>
  <dcterms:created xsi:type="dcterms:W3CDTF">2025-12-09T17:18:00Z</dcterms:created>
  <dcterms:modified xsi:type="dcterms:W3CDTF">2025-12-17T04:57:42Z</dcterms:modified>
</cp:coreProperties>
</file>